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of 4 — ~20 seconds]</a:t>
            </a:r>
          </a:p>
          <a:p/>
          <a:p>
            <a:r>
              <a:t>This is CanPlan's front door. From the very first screen we lower cognitive load: one clear choice — are you the person using it, or a caregiver? The home screen greets you by name and asks, in plain language, what you'd like to do, with just three big, friendly buttons. Warm colours and rounded shapes make it feel safe, not clinical.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of 4 — ~20 seconds]</a:t>
            </a:r>
          </a:p>
          <a:p/>
          <a:p>
            <a:r>
              <a:t>This is the heart of the app. Every task is broken into small, visual steps — a photo or short video shows exactly what to do. Anyone who struggles with reading can tap 'Listen to this step'. In step view we go full-screen, one step at a time, so there's no distraction — and a progress bar with 'two of four done' gives constant, reassuring feedback.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of 4 — ~20 seconds]</a:t>
            </a:r>
          </a:p>
          <a:p/>
          <a:p>
            <a:r>
              <a:t>Now the caregiver side — same visual language, a different job. A caregiver like Sam sees everyone they support in one list, with how many tasks each has left. Open a person and you get an at-a-glance dashboard: to-do, overdue, done, skipped, and overall progress. Caregiver-added tasks are clearly tagged, so nothing gets confused.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of 4 — ~20 seconds]</a:t>
            </a:r>
          </a:p>
          <a:p/>
          <a:p>
            <a:r>
              <a:t>Caregivers get full control — add, edit, reorder or remove any task, and link a new person in seconds. Built-in reports make it easy to share progress with families or support staff. Crucially, both portals are built from one design system — the same components, colours and rounded style — so whichever side you're on, CanPlan feels like one calm, coherent product.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8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02920"/>
            <a:ext cx="1563624" cy="384048"/>
          </a:xfrm>
          <a:prstGeom prst="roundRect">
            <a:avLst>
              <a:gd name="adj" fmla="val 50000"/>
            </a:avLst>
          </a:prstGeom>
          <a:solidFill>
            <a:srgbClr val="E86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200" b="1">
                <a:solidFill>
                  <a:srgbClr val="FFFFFF"/>
                </a:solidFill>
                <a:latin typeface="Nunito"/>
              </a:rPr>
              <a:t>USER PORTAL</a:t>
            </a:r>
          </a:p>
        </p:txBody>
      </p:sp>
      <p:sp>
        <p:nvSpPr>
          <p:cNvPr id="4" name="Rounded Rectangle 3"/>
          <p:cNvSpPr/>
          <p:nvPr/>
        </p:nvSpPr>
        <p:spPr>
          <a:xfrm>
            <a:off x="10881360" y="502920"/>
            <a:ext cx="960120" cy="384048"/>
          </a:xfrm>
          <a:prstGeom prst="roundRect">
            <a:avLst>
              <a:gd name="adj" fmla="val 50000"/>
            </a:avLst>
          </a:prstGeom>
          <a:solidFill>
            <a:srgbClr val="1C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200" b="1">
                <a:solidFill>
                  <a:srgbClr val="FFFFFF"/>
                </a:solidFill>
                <a:latin typeface="Nunito"/>
              </a:rPr>
              <a:t>20 sec</a:t>
            </a:r>
          </a:p>
        </p:txBody>
      </p:sp>
      <p:sp>
        <p:nvSpPr>
          <p:cNvPr id="5" name="TextBox 4"/>
          <p:cNvSpPr txBox="1"/>
          <p:nvPr/>
        </p:nvSpPr>
        <p:spPr>
          <a:xfrm>
            <a:off x="640080" y="1051560"/>
            <a:ext cx="6035040" cy="1554480"/>
          </a:xfrm>
          <a:prstGeom prst="rect">
            <a:avLst/>
          </a:prstGeom>
          <a:noFill/>
        </p:spPr>
        <p:txBody>
          <a:bodyPr wrap="square" anchor="t" lIns="0" rIns="0" tIns="0" bIns="0">
            <a:spAutoFit/>
          </a:bodyPr>
          <a:lstStyle/>
          <a:p>
            <a:pPr algn="l">
              <a:lnSpc>
                <a:spcPct val="102000"/>
              </a:lnSpc>
            </a:pPr>
            <a:r>
              <a:rPr sz="3400" b="1">
                <a:solidFill>
                  <a:srgbClr val="1C1A2E"/>
                </a:solidFill>
                <a:latin typeface="Nunito"/>
              </a:rPr>
              <a:t>A calm, welcoming first step</a:t>
            </a:r>
          </a:p>
        </p:txBody>
      </p:sp>
      <p:sp>
        <p:nvSpPr>
          <p:cNvPr id="6" name="TextBox 5"/>
          <p:cNvSpPr txBox="1"/>
          <p:nvPr/>
        </p:nvSpPr>
        <p:spPr>
          <a:xfrm>
            <a:off x="658368" y="2487168"/>
            <a:ext cx="5852160" cy="457200"/>
          </a:xfrm>
          <a:prstGeom prst="rect">
            <a:avLst/>
          </a:prstGeom>
          <a:noFill/>
        </p:spPr>
        <p:txBody>
          <a:bodyPr wrap="square" anchor="t" lIns="0" rIns="0" tIns="0" bIns="0">
            <a:spAutoFit/>
          </a:bodyPr>
          <a:lstStyle/>
          <a:p>
            <a:pPr algn="l">
              <a:lnSpc>
                <a:spcPct val="100000"/>
              </a:lnSpc>
            </a:pPr>
            <a:r>
              <a:rPr sz="1600" b="1">
                <a:solidFill>
                  <a:srgbClr val="E8623A"/>
                </a:solidFill>
                <a:latin typeface="DM Sans"/>
              </a:rPr>
              <a:t>Onboarding &amp; Home</a:t>
            </a:r>
          </a:p>
        </p:txBody>
      </p:sp>
      <p:sp>
        <p:nvSpPr>
          <p:cNvPr id="7" name="Oval 6"/>
          <p:cNvSpPr/>
          <p:nvPr/>
        </p:nvSpPr>
        <p:spPr>
          <a:xfrm>
            <a:off x="685800" y="3209544"/>
            <a:ext cx="219456" cy="219456"/>
          </a:xfrm>
          <a:prstGeom prst="ellipse">
            <a:avLst/>
          </a:prstGeom>
          <a:solidFill>
            <a:srgbClr val="E8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18104"/>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Choose your role</a:t>
            </a:r>
          </a:p>
          <a:p>
            <a:pPr>
              <a:lnSpc>
                <a:spcPct val="100000"/>
              </a:lnSpc>
              <a:spcBef>
                <a:spcPts val="100"/>
              </a:spcBef>
            </a:pPr>
            <a:r>
              <a:rPr sz="1200" b="0">
                <a:solidFill>
                  <a:srgbClr val="7A6F6A"/>
                </a:solidFill>
                <a:latin typeface="DM Sans"/>
              </a:rPr>
              <a:t>One tap: use it yourself, or as a caregiver — switch anytime.</a:t>
            </a:r>
          </a:p>
        </p:txBody>
      </p:sp>
      <p:sp>
        <p:nvSpPr>
          <p:cNvPr id="9" name="Oval 8"/>
          <p:cNvSpPr/>
          <p:nvPr/>
        </p:nvSpPr>
        <p:spPr>
          <a:xfrm>
            <a:off x="685800" y="4050791"/>
            <a:ext cx="219456" cy="219456"/>
          </a:xfrm>
          <a:prstGeom prst="ellipse">
            <a:avLst/>
          </a:prstGeom>
          <a:solidFill>
            <a:srgbClr val="3DB8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959352"/>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Plain, kind language</a:t>
            </a:r>
          </a:p>
          <a:p>
            <a:pPr>
              <a:lnSpc>
                <a:spcPct val="100000"/>
              </a:lnSpc>
              <a:spcBef>
                <a:spcPts val="100"/>
              </a:spcBef>
            </a:pPr>
            <a:r>
              <a:rPr sz="1200" b="0">
                <a:solidFill>
                  <a:srgbClr val="7A6F6A"/>
                </a:solidFill>
                <a:latin typeface="DM Sans"/>
              </a:rPr>
              <a:t>“What would you like to do today?” — no jargon, no clutter.</a:t>
            </a:r>
          </a:p>
        </p:txBody>
      </p:sp>
      <p:sp>
        <p:nvSpPr>
          <p:cNvPr id="11" name="Oval 10"/>
          <p:cNvSpPr/>
          <p:nvPr/>
        </p:nvSpPr>
        <p:spPr>
          <a:xfrm>
            <a:off x="685800" y="4892040"/>
            <a:ext cx="219456" cy="219456"/>
          </a:xfrm>
          <a:prstGeom prst="ellipse">
            <a:avLst/>
          </a:prstGeom>
          <a:solidFill>
            <a:srgbClr val="F0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4800600"/>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Few, large choices</a:t>
            </a:r>
          </a:p>
          <a:p>
            <a:pPr>
              <a:lnSpc>
                <a:spcPct val="100000"/>
              </a:lnSpc>
              <a:spcBef>
                <a:spcPts val="100"/>
              </a:spcBef>
            </a:pPr>
            <a:r>
              <a:rPr sz="1200" b="0">
                <a:solidFill>
                  <a:srgbClr val="7A6F6A"/>
                </a:solidFill>
                <a:latin typeface="DM Sans"/>
              </a:rPr>
              <a:t>Just three big buttons keep cognitive load low.</a:t>
            </a:r>
          </a:p>
        </p:txBody>
      </p:sp>
      <p:sp>
        <p:nvSpPr>
          <p:cNvPr id="13" name="Oval 12"/>
          <p:cNvSpPr/>
          <p:nvPr/>
        </p:nvSpPr>
        <p:spPr>
          <a:xfrm>
            <a:off x="685800" y="5733288"/>
            <a:ext cx="219456" cy="219456"/>
          </a:xfrm>
          <a:prstGeom prst="ellipse">
            <a:avLst/>
          </a:prstGeom>
          <a:solidFill>
            <a:srgbClr val="9B6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5641848"/>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Warm, consistent palette</a:t>
            </a:r>
          </a:p>
          <a:p>
            <a:pPr>
              <a:lnSpc>
                <a:spcPct val="100000"/>
              </a:lnSpc>
              <a:spcBef>
                <a:spcPts val="100"/>
              </a:spcBef>
            </a:pPr>
            <a:r>
              <a:rPr sz="1200" b="0">
                <a:solidFill>
                  <a:srgbClr val="7A6F6A"/>
                </a:solidFill>
                <a:latin typeface="DM Sans"/>
              </a:rPr>
              <a:t>Soft cream and orange feel safe, not clinical.</a:t>
            </a:r>
          </a:p>
        </p:txBody>
      </p:sp>
      <p:sp>
        <p:nvSpPr>
          <p:cNvPr id="15" name="TextBox 14"/>
          <p:cNvSpPr txBox="1"/>
          <p:nvPr/>
        </p:nvSpPr>
        <p:spPr>
          <a:xfrm>
            <a:off x="640080" y="6419088"/>
            <a:ext cx="5486400" cy="320040"/>
          </a:xfrm>
          <a:prstGeom prst="rect">
            <a:avLst/>
          </a:prstGeom>
          <a:noFill/>
        </p:spPr>
        <p:txBody>
          <a:bodyPr wrap="square" anchor="t" lIns="0" rIns="0" tIns="0" bIns="0">
            <a:spAutoFit/>
          </a:bodyPr>
          <a:lstStyle/>
          <a:p>
            <a:pPr algn="l">
              <a:lnSpc>
                <a:spcPct val="100000"/>
              </a:lnSpc>
            </a:pPr>
            <a:r>
              <a:rPr sz="1100" b="1">
                <a:solidFill>
                  <a:srgbClr val="7A6F6A"/>
                </a:solidFill>
                <a:latin typeface="DM Sans"/>
              </a:rPr>
              <a:t>CanPlan 2.0  ·  UI/UX Design</a:t>
            </a:r>
          </a:p>
        </p:txBody>
      </p:sp>
      <p:pic>
        <p:nvPicPr>
          <p:cNvPr id="16" name="Picture 15" descr="01-welcome.png"/>
          <p:cNvPicPr>
            <a:picLocks noChangeAspect="1"/>
          </p:cNvPicPr>
          <p:nvPr/>
        </p:nvPicPr>
        <p:blipFill>
          <a:blip r:embed="rId2"/>
          <a:stretch>
            <a:fillRect/>
          </a:stretch>
        </p:blipFill>
        <p:spPr>
          <a:xfrm>
            <a:off x="6446520" y="1244568"/>
            <a:ext cx="2619756" cy="4460302"/>
          </a:xfrm>
          <a:prstGeom prst="roundRect">
            <a:avLst>
              <a:gd name="adj" fmla="val 6500"/>
            </a:avLst>
          </a:prstGeom>
          <a:effectLst>
            <a:outerShdw blurRad="90000" dist="38000" dir="5400000" rotWithShape="0">
              <a:srgbClr val="1C1A2E">
                <a:alpha val="34000"/>
              </a:srgbClr>
            </a:outerShdw>
          </a:effectLst>
        </p:spPr>
      </p:pic>
      <p:pic>
        <p:nvPicPr>
          <p:cNvPr id="17" name="Picture 16" descr="03-home.png"/>
          <p:cNvPicPr>
            <a:picLocks noChangeAspect="1"/>
          </p:cNvPicPr>
          <p:nvPr/>
        </p:nvPicPr>
        <p:blipFill>
          <a:blip r:embed="rId3"/>
          <a:stretch>
            <a:fillRect/>
          </a:stretch>
        </p:blipFill>
        <p:spPr>
          <a:xfrm>
            <a:off x="9358884" y="1244568"/>
            <a:ext cx="2619756" cy="4460302"/>
          </a:xfrm>
          <a:prstGeom prst="roundRect">
            <a:avLst>
              <a:gd name="adj" fmla="val 6500"/>
            </a:avLst>
          </a:prstGeom>
          <a:effectLst>
            <a:outerShdw blurRad="90000" dist="38000" dir="5400000" rotWithShape="0">
              <a:srgbClr val="1C1A2E">
                <a:alpha val="34000"/>
              </a:srgbClr>
            </a:outerShdw>
          </a:effectLst>
        </p:spPr>
      </p:pic>
    </p:spTree>
  </p:cSld>
  <p:clrMapOvr>
    <a:masterClrMapping/>
  </p:clrMapOvr>
  <p:transition spd="med" advClick="0" advTm="20000">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E8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02920"/>
            <a:ext cx="1563624" cy="384048"/>
          </a:xfrm>
          <a:prstGeom prst="roundRect">
            <a:avLst>
              <a:gd name="adj" fmla="val 50000"/>
            </a:avLst>
          </a:prstGeom>
          <a:solidFill>
            <a:srgbClr val="E8623A"/>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200" b="1">
                <a:solidFill>
                  <a:srgbClr val="FFFFFF"/>
                </a:solidFill>
                <a:latin typeface="Nunito"/>
              </a:rPr>
              <a:t>USER PORTAL</a:t>
            </a:r>
          </a:p>
        </p:txBody>
      </p:sp>
      <p:sp>
        <p:nvSpPr>
          <p:cNvPr id="4" name="Rounded Rectangle 3"/>
          <p:cNvSpPr/>
          <p:nvPr/>
        </p:nvSpPr>
        <p:spPr>
          <a:xfrm>
            <a:off x="10881360" y="502920"/>
            <a:ext cx="960120" cy="384048"/>
          </a:xfrm>
          <a:prstGeom prst="roundRect">
            <a:avLst>
              <a:gd name="adj" fmla="val 50000"/>
            </a:avLst>
          </a:prstGeom>
          <a:solidFill>
            <a:srgbClr val="1C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200" b="1">
                <a:solidFill>
                  <a:srgbClr val="FFFFFF"/>
                </a:solidFill>
                <a:latin typeface="Nunito"/>
              </a:rPr>
              <a:t>20 sec</a:t>
            </a:r>
          </a:p>
        </p:txBody>
      </p:sp>
      <p:sp>
        <p:nvSpPr>
          <p:cNvPr id="5" name="TextBox 4"/>
          <p:cNvSpPr txBox="1"/>
          <p:nvPr/>
        </p:nvSpPr>
        <p:spPr>
          <a:xfrm>
            <a:off x="640080" y="1051560"/>
            <a:ext cx="6035040" cy="1554480"/>
          </a:xfrm>
          <a:prstGeom prst="rect">
            <a:avLst/>
          </a:prstGeom>
          <a:noFill/>
        </p:spPr>
        <p:txBody>
          <a:bodyPr wrap="square" anchor="t" lIns="0" rIns="0" tIns="0" bIns="0">
            <a:spAutoFit/>
          </a:bodyPr>
          <a:lstStyle/>
          <a:p>
            <a:pPr algn="l">
              <a:lnSpc>
                <a:spcPct val="102000"/>
              </a:lnSpc>
            </a:pPr>
            <a:r>
              <a:rPr sz="3400" b="1">
                <a:solidFill>
                  <a:srgbClr val="1C1A2E"/>
                </a:solidFill>
                <a:latin typeface="Nunito"/>
              </a:rPr>
              <a:t>Every task, broken into simple steps</a:t>
            </a:r>
          </a:p>
        </p:txBody>
      </p:sp>
      <p:sp>
        <p:nvSpPr>
          <p:cNvPr id="6" name="TextBox 5"/>
          <p:cNvSpPr txBox="1"/>
          <p:nvPr/>
        </p:nvSpPr>
        <p:spPr>
          <a:xfrm>
            <a:off x="658368" y="2487168"/>
            <a:ext cx="5852160" cy="457200"/>
          </a:xfrm>
          <a:prstGeom prst="rect">
            <a:avLst/>
          </a:prstGeom>
          <a:noFill/>
        </p:spPr>
        <p:txBody>
          <a:bodyPr wrap="square" anchor="t" lIns="0" rIns="0" tIns="0" bIns="0">
            <a:spAutoFit/>
          </a:bodyPr>
          <a:lstStyle/>
          <a:p>
            <a:pPr algn="l">
              <a:lnSpc>
                <a:spcPct val="100000"/>
              </a:lnSpc>
            </a:pPr>
            <a:r>
              <a:rPr sz="1600" b="1">
                <a:solidFill>
                  <a:srgbClr val="E8623A"/>
                </a:solidFill>
                <a:latin typeface="DM Sans"/>
              </a:rPr>
              <a:t>Guided Task Experience</a:t>
            </a:r>
          </a:p>
        </p:txBody>
      </p:sp>
      <p:sp>
        <p:nvSpPr>
          <p:cNvPr id="7" name="Oval 6"/>
          <p:cNvSpPr/>
          <p:nvPr/>
        </p:nvSpPr>
        <p:spPr>
          <a:xfrm>
            <a:off x="685800" y="3209544"/>
            <a:ext cx="219456" cy="219456"/>
          </a:xfrm>
          <a:prstGeom prst="ellipse">
            <a:avLst/>
          </a:prstGeom>
          <a:solidFill>
            <a:srgbClr val="E8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18104"/>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A photo or video per step</a:t>
            </a:r>
          </a:p>
          <a:p>
            <a:pPr>
              <a:lnSpc>
                <a:spcPct val="100000"/>
              </a:lnSpc>
              <a:spcBef>
                <a:spcPts val="100"/>
              </a:spcBef>
            </a:pPr>
            <a:r>
              <a:rPr sz="1200" b="0">
                <a:solidFill>
                  <a:srgbClr val="7A6F6A"/>
                </a:solidFill>
                <a:latin typeface="DM Sans"/>
              </a:rPr>
              <a:t>See exactly what to do — not just read it.</a:t>
            </a:r>
          </a:p>
        </p:txBody>
      </p:sp>
      <p:sp>
        <p:nvSpPr>
          <p:cNvPr id="9" name="Oval 8"/>
          <p:cNvSpPr/>
          <p:nvPr/>
        </p:nvSpPr>
        <p:spPr>
          <a:xfrm>
            <a:off x="685800" y="4050791"/>
            <a:ext cx="219456" cy="219456"/>
          </a:xfrm>
          <a:prstGeom prst="ellipse">
            <a:avLst/>
          </a:prstGeom>
          <a:solidFill>
            <a:srgbClr val="3DB8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959352"/>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Listen to any step</a:t>
            </a:r>
          </a:p>
          <a:p>
            <a:pPr>
              <a:lnSpc>
                <a:spcPct val="100000"/>
              </a:lnSpc>
              <a:spcBef>
                <a:spcPts val="100"/>
              </a:spcBef>
            </a:pPr>
            <a:r>
              <a:rPr sz="1200" b="0">
                <a:solidFill>
                  <a:srgbClr val="7A6F6A"/>
                </a:solidFill>
                <a:latin typeface="DM Sans"/>
              </a:rPr>
              <a:t>Built-in audio supports people who don't read easily.</a:t>
            </a:r>
          </a:p>
        </p:txBody>
      </p:sp>
      <p:sp>
        <p:nvSpPr>
          <p:cNvPr id="11" name="Oval 10"/>
          <p:cNvSpPr/>
          <p:nvPr/>
        </p:nvSpPr>
        <p:spPr>
          <a:xfrm>
            <a:off x="685800" y="4892040"/>
            <a:ext cx="219456" cy="219456"/>
          </a:xfrm>
          <a:prstGeom prst="ellipse">
            <a:avLst/>
          </a:prstGeom>
          <a:solidFill>
            <a:srgbClr val="F0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4800600"/>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One step at a time</a:t>
            </a:r>
          </a:p>
          <a:p>
            <a:pPr>
              <a:lnSpc>
                <a:spcPct val="100000"/>
              </a:lnSpc>
              <a:spcBef>
                <a:spcPts val="100"/>
              </a:spcBef>
            </a:pPr>
            <a:r>
              <a:rPr sz="1200" b="0">
                <a:solidFill>
                  <a:srgbClr val="7A6F6A"/>
                </a:solidFill>
                <a:latin typeface="DM Sans"/>
              </a:rPr>
              <a:t>Full-screen focus removes every distraction.</a:t>
            </a:r>
          </a:p>
        </p:txBody>
      </p:sp>
      <p:sp>
        <p:nvSpPr>
          <p:cNvPr id="13" name="Oval 12"/>
          <p:cNvSpPr/>
          <p:nvPr/>
        </p:nvSpPr>
        <p:spPr>
          <a:xfrm>
            <a:off x="685800" y="5733288"/>
            <a:ext cx="219456" cy="219456"/>
          </a:xfrm>
          <a:prstGeom prst="ellipse">
            <a:avLst/>
          </a:prstGeom>
          <a:solidFill>
            <a:srgbClr val="9B6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5641848"/>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Clear, kind progress</a:t>
            </a:r>
          </a:p>
          <a:p>
            <a:pPr>
              <a:lnSpc>
                <a:spcPct val="100000"/>
              </a:lnSpc>
              <a:spcBef>
                <a:spcPts val="100"/>
              </a:spcBef>
            </a:pPr>
            <a:r>
              <a:rPr sz="1200" b="0">
                <a:solidFill>
                  <a:srgbClr val="7A6F6A"/>
                </a:solidFill>
                <a:latin typeface="DM Sans"/>
              </a:rPr>
              <a:t>A progress bar and “3 of 4 done” build confidence.</a:t>
            </a:r>
          </a:p>
        </p:txBody>
      </p:sp>
      <p:sp>
        <p:nvSpPr>
          <p:cNvPr id="15" name="TextBox 14"/>
          <p:cNvSpPr txBox="1"/>
          <p:nvPr/>
        </p:nvSpPr>
        <p:spPr>
          <a:xfrm>
            <a:off x="640080" y="6419088"/>
            <a:ext cx="5486400" cy="320040"/>
          </a:xfrm>
          <a:prstGeom prst="rect">
            <a:avLst/>
          </a:prstGeom>
          <a:noFill/>
        </p:spPr>
        <p:txBody>
          <a:bodyPr wrap="square" anchor="t" lIns="0" rIns="0" tIns="0" bIns="0">
            <a:spAutoFit/>
          </a:bodyPr>
          <a:lstStyle/>
          <a:p>
            <a:pPr algn="l">
              <a:lnSpc>
                <a:spcPct val="100000"/>
              </a:lnSpc>
            </a:pPr>
            <a:r>
              <a:rPr sz="1100" b="1">
                <a:solidFill>
                  <a:srgbClr val="7A6F6A"/>
                </a:solidFill>
                <a:latin typeface="DM Sans"/>
              </a:rPr>
              <a:t>CanPlan 2.0  ·  UI/UX Design</a:t>
            </a:r>
          </a:p>
        </p:txBody>
      </p:sp>
      <p:pic>
        <p:nvPicPr>
          <p:cNvPr id="16" name="Picture 15" descr="05-task-detail.png"/>
          <p:cNvPicPr>
            <a:picLocks noChangeAspect="1"/>
          </p:cNvPicPr>
          <p:nvPr/>
        </p:nvPicPr>
        <p:blipFill>
          <a:blip r:embed="rId2"/>
          <a:stretch>
            <a:fillRect/>
          </a:stretch>
        </p:blipFill>
        <p:spPr>
          <a:xfrm>
            <a:off x="6446520" y="1244568"/>
            <a:ext cx="2619756" cy="4460302"/>
          </a:xfrm>
          <a:prstGeom prst="roundRect">
            <a:avLst>
              <a:gd name="adj" fmla="val 6500"/>
            </a:avLst>
          </a:prstGeom>
          <a:effectLst>
            <a:outerShdw blurRad="90000" dist="38000" dir="5400000" rotWithShape="0">
              <a:srgbClr val="1C1A2E">
                <a:alpha val="34000"/>
              </a:srgbClr>
            </a:outerShdw>
          </a:effectLst>
        </p:spPr>
      </p:pic>
      <p:pic>
        <p:nvPicPr>
          <p:cNvPr id="17" name="Picture 16" descr="06-step-view.png"/>
          <p:cNvPicPr>
            <a:picLocks noChangeAspect="1"/>
          </p:cNvPicPr>
          <p:nvPr/>
        </p:nvPicPr>
        <p:blipFill>
          <a:blip r:embed="rId3"/>
          <a:stretch>
            <a:fillRect/>
          </a:stretch>
        </p:blipFill>
        <p:spPr>
          <a:xfrm>
            <a:off x="9358884" y="1244568"/>
            <a:ext cx="2619756" cy="4460302"/>
          </a:xfrm>
          <a:prstGeom prst="roundRect">
            <a:avLst>
              <a:gd name="adj" fmla="val 6500"/>
            </a:avLst>
          </a:prstGeom>
          <a:effectLst>
            <a:outerShdw blurRad="90000" dist="38000" dir="5400000" rotWithShape="0">
              <a:srgbClr val="1C1A2E">
                <a:alpha val="34000"/>
              </a:srgbClr>
            </a:outerShdw>
          </a:effectLst>
        </p:spPr>
      </p:pic>
    </p:spTree>
  </p:cSld>
  <p:clrMapOvr>
    <a:masterClrMapping/>
  </p:clrMapOvr>
  <p:transition spd="med" advClick="0" advTm="20000">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DB8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02920"/>
            <a:ext cx="2066543" cy="384048"/>
          </a:xfrm>
          <a:prstGeom prst="roundRect">
            <a:avLst>
              <a:gd name="adj" fmla="val 50000"/>
            </a:avLst>
          </a:prstGeom>
          <a:solidFill>
            <a:srgbClr val="3DB8A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200" b="1">
                <a:solidFill>
                  <a:srgbClr val="FFFFFF"/>
                </a:solidFill>
                <a:latin typeface="Nunito"/>
              </a:rPr>
              <a:t>CAREGIVER PORTAL</a:t>
            </a:r>
          </a:p>
        </p:txBody>
      </p:sp>
      <p:sp>
        <p:nvSpPr>
          <p:cNvPr id="4" name="Rounded Rectangle 3"/>
          <p:cNvSpPr/>
          <p:nvPr/>
        </p:nvSpPr>
        <p:spPr>
          <a:xfrm>
            <a:off x="10881360" y="502920"/>
            <a:ext cx="960120" cy="384048"/>
          </a:xfrm>
          <a:prstGeom prst="roundRect">
            <a:avLst>
              <a:gd name="adj" fmla="val 50000"/>
            </a:avLst>
          </a:prstGeom>
          <a:solidFill>
            <a:srgbClr val="1C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200" b="1">
                <a:solidFill>
                  <a:srgbClr val="FFFFFF"/>
                </a:solidFill>
                <a:latin typeface="Nunito"/>
              </a:rPr>
              <a:t>20 sec</a:t>
            </a:r>
          </a:p>
        </p:txBody>
      </p:sp>
      <p:sp>
        <p:nvSpPr>
          <p:cNvPr id="5" name="TextBox 4"/>
          <p:cNvSpPr txBox="1"/>
          <p:nvPr/>
        </p:nvSpPr>
        <p:spPr>
          <a:xfrm>
            <a:off x="640080" y="1051560"/>
            <a:ext cx="6035040" cy="1554480"/>
          </a:xfrm>
          <a:prstGeom prst="rect">
            <a:avLst/>
          </a:prstGeom>
          <a:noFill/>
        </p:spPr>
        <p:txBody>
          <a:bodyPr wrap="square" anchor="t" lIns="0" rIns="0" tIns="0" bIns="0">
            <a:spAutoFit/>
          </a:bodyPr>
          <a:lstStyle/>
          <a:p>
            <a:pPr algn="l">
              <a:lnSpc>
                <a:spcPct val="102000"/>
              </a:lnSpc>
            </a:pPr>
            <a:r>
              <a:rPr sz="3400" b="1">
                <a:solidFill>
                  <a:srgbClr val="1C1A2E"/>
                </a:solidFill>
                <a:latin typeface="Nunito"/>
              </a:rPr>
              <a:t>Support many people, at a glance</a:t>
            </a:r>
          </a:p>
        </p:txBody>
      </p:sp>
      <p:sp>
        <p:nvSpPr>
          <p:cNvPr id="6" name="TextBox 5"/>
          <p:cNvSpPr txBox="1"/>
          <p:nvPr/>
        </p:nvSpPr>
        <p:spPr>
          <a:xfrm>
            <a:off x="658368" y="2487168"/>
            <a:ext cx="5852160" cy="457200"/>
          </a:xfrm>
          <a:prstGeom prst="rect">
            <a:avLst/>
          </a:prstGeom>
          <a:noFill/>
        </p:spPr>
        <p:txBody>
          <a:bodyPr wrap="square" anchor="t" lIns="0" rIns="0" tIns="0" bIns="0">
            <a:spAutoFit/>
          </a:bodyPr>
          <a:lstStyle/>
          <a:p>
            <a:pPr algn="l">
              <a:lnSpc>
                <a:spcPct val="100000"/>
              </a:lnSpc>
            </a:pPr>
            <a:r>
              <a:rPr sz="1600" b="1">
                <a:solidFill>
                  <a:srgbClr val="3DB8AD"/>
                </a:solidFill>
                <a:latin typeface="DM Sans"/>
              </a:rPr>
              <a:t>Caregiver Home &amp; Overview</a:t>
            </a:r>
          </a:p>
        </p:txBody>
      </p:sp>
      <p:sp>
        <p:nvSpPr>
          <p:cNvPr id="7" name="Oval 6"/>
          <p:cNvSpPr/>
          <p:nvPr/>
        </p:nvSpPr>
        <p:spPr>
          <a:xfrm>
            <a:off x="685800" y="3209544"/>
            <a:ext cx="219456" cy="219456"/>
          </a:xfrm>
          <a:prstGeom prst="ellipse">
            <a:avLst/>
          </a:prstGeom>
          <a:solidFill>
            <a:srgbClr val="E8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18104"/>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People you support</a:t>
            </a:r>
          </a:p>
          <a:p>
            <a:pPr>
              <a:lnSpc>
                <a:spcPct val="100000"/>
              </a:lnSpc>
              <a:spcBef>
                <a:spcPts val="100"/>
              </a:spcBef>
            </a:pPr>
            <a:r>
              <a:rPr sz="1200" b="0">
                <a:solidFill>
                  <a:srgbClr val="7A6F6A"/>
                </a:solidFill>
                <a:latin typeface="DM Sans"/>
              </a:rPr>
              <a:t>Manage several people from one simple list.</a:t>
            </a:r>
          </a:p>
        </p:txBody>
      </p:sp>
      <p:sp>
        <p:nvSpPr>
          <p:cNvPr id="9" name="Oval 8"/>
          <p:cNvSpPr/>
          <p:nvPr/>
        </p:nvSpPr>
        <p:spPr>
          <a:xfrm>
            <a:off x="685800" y="4050791"/>
            <a:ext cx="219456" cy="219456"/>
          </a:xfrm>
          <a:prstGeom prst="ellipse">
            <a:avLst/>
          </a:prstGeom>
          <a:solidFill>
            <a:srgbClr val="3DB8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959352"/>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At-a-glance stats</a:t>
            </a:r>
          </a:p>
          <a:p>
            <a:pPr>
              <a:lnSpc>
                <a:spcPct val="100000"/>
              </a:lnSpc>
              <a:spcBef>
                <a:spcPts val="100"/>
              </a:spcBef>
            </a:pPr>
            <a:r>
              <a:rPr sz="1200" b="0">
                <a:solidFill>
                  <a:srgbClr val="7A6F6A"/>
                </a:solidFill>
                <a:latin typeface="DM Sans"/>
              </a:rPr>
              <a:t>To-do, overdue, done and skipped in seconds.</a:t>
            </a:r>
          </a:p>
        </p:txBody>
      </p:sp>
      <p:sp>
        <p:nvSpPr>
          <p:cNvPr id="11" name="Oval 10"/>
          <p:cNvSpPr/>
          <p:nvPr/>
        </p:nvSpPr>
        <p:spPr>
          <a:xfrm>
            <a:off x="685800" y="4892040"/>
            <a:ext cx="219456" cy="219456"/>
          </a:xfrm>
          <a:prstGeom prst="ellipse">
            <a:avLst/>
          </a:prstGeom>
          <a:solidFill>
            <a:srgbClr val="F0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4800600"/>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Progress you can trust</a:t>
            </a:r>
          </a:p>
          <a:p>
            <a:pPr>
              <a:lnSpc>
                <a:spcPct val="100000"/>
              </a:lnSpc>
              <a:spcBef>
                <a:spcPts val="100"/>
              </a:spcBef>
            </a:pPr>
            <a:r>
              <a:rPr sz="1200" b="0">
                <a:solidFill>
                  <a:srgbClr val="7A6F6A"/>
                </a:solidFill>
                <a:latin typeface="DM Sans"/>
              </a:rPr>
              <a:t>Overall percentage and steps completed.</a:t>
            </a:r>
          </a:p>
        </p:txBody>
      </p:sp>
      <p:sp>
        <p:nvSpPr>
          <p:cNvPr id="13" name="Oval 12"/>
          <p:cNvSpPr/>
          <p:nvPr/>
        </p:nvSpPr>
        <p:spPr>
          <a:xfrm>
            <a:off x="685800" y="5733288"/>
            <a:ext cx="219456" cy="219456"/>
          </a:xfrm>
          <a:prstGeom prst="ellipse">
            <a:avLst/>
          </a:prstGeom>
          <a:solidFill>
            <a:srgbClr val="9B6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5641848"/>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Caregiver tags</a:t>
            </a:r>
          </a:p>
          <a:p>
            <a:pPr>
              <a:lnSpc>
                <a:spcPct val="100000"/>
              </a:lnSpc>
              <a:spcBef>
                <a:spcPts val="100"/>
              </a:spcBef>
            </a:pPr>
            <a:r>
              <a:rPr sz="1200" b="0">
                <a:solidFill>
                  <a:srgbClr val="7A6F6A"/>
                </a:solidFill>
                <a:latin typeface="DM Sans"/>
              </a:rPr>
              <a:t>See which tasks a caregiver added or edited.</a:t>
            </a:r>
          </a:p>
        </p:txBody>
      </p:sp>
      <p:sp>
        <p:nvSpPr>
          <p:cNvPr id="15" name="TextBox 14"/>
          <p:cNvSpPr txBox="1"/>
          <p:nvPr/>
        </p:nvSpPr>
        <p:spPr>
          <a:xfrm>
            <a:off x="640080" y="6419088"/>
            <a:ext cx="5486400" cy="320040"/>
          </a:xfrm>
          <a:prstGeom prst="rect">
            <a:avLst/>
          </a:prstGeom>
          <a:noFill/>
        </p:spPr>
        <p:txBody>
          <a:bodyPr wrap="square" anchor="t" lIns="0" rIns="0" tIns="0" bIns="0">
            <a:spAutoFit/>
          </a:bodyPr>
          <a:lstStyle/>
          <a:p>
            <a:pPr algn="l">
              <a:lnSpc>
                <a:spcPct val="100000"/>
              </a:lnSpc>
            </a:pPr>
            <a:r>
              <a:rPr sz="1100" b="1">
                <a:solidFill>
                  <a:srgbClr val="7A6F6A"/>
                </a:solidFill>
                <a:latin typeface="DM Sans"/>
              </a:rPr>
              <a:t>CanPlan 2.0  ·  UI/UX Design</a:t>
            </a:r>
          </a:p>
        </p:txBody>
      </p:sp>
      <p:pic>
        <p:nvPicPr>
          <p:cNvPr id="16" name="Picture 15" descr="10-cg-home.png"/>
          <p:cNvPicPr>
            <a:picLocks noChangeAspect="1"/>
          </p:cNvPicPr>
          <p:nvPr/>
        </p:nvPicPr>
        <p:blipFill>
          <a:blip r:embed="rId2"/>
          <a:stretch>
            <a:fillRect/>
          </a:stretch>
        </p:blipFill>
        <p:spPr>
          <a:xfrm>
            <a:off x="6446520" y="1244568"/>
            <a:ext cx="2619756" cy="4460302"/>
          </a:xfrm>
          <a:prstGeom prst="roundRect">
            <a:avLst>
              <a:gd name="adj" fmla="val 6500"/>
            </a:avLst>
          </a:prstGeom>
          <a:effectLst>
            <a:outerShdw blurRad="90000" dist="38000" dir="5400000" rotWithShape="0">
              <a:srgbClr val="1C1A2E">
                <a:alpha val="34000"/>
              </a:srgbClr>
            </a:outerShdw>
          </a:effectLst>
        </p:spPr>
      </p:pic>
      <p:pic>
        <p:nvPicPr>
          <p:cNvPr id="17" name="Picture 16" descr="11-cg-overview.png"/>
          <p:cNvPicPr>
            <a:picLocks noChangeAspect="1"/>
          </p:cNvPicPr>
          <p:nvPr/>
        </p:nvPicPr>
        <p:blipFill>
          <a:blip r:embed="rId3"/>
          <a:stretch>
            <a:fillRect/>
          </a:stretch>
        </p:blipFill>
        <p:spPr>
          <a:xfrm>
            <a:off x="9358884" y="1244568"/>
            <a:ext cx="2619756" cy="4460302"/>
          </a:xfrm>
          <a:prstGeom prst="roundRect">
            <a:avLst>
              <a:gd name="adj" fmla="val 6500"/>
            </a:avLst>
          </a:prstGeom>
          <a:effectLst>
            <a:outerShdw blurRad="90000" dist="38000" dir="5400000" rotWithShape="0">
              <a:srgbClr val="1C1A2E">
                <a:alpha val="34000"/>
              </a:srgbClr>
            </a:outerShdw>
          </a:effectLst>
        </p:spPr>
      </p:pic>
    </p:spTree>
  </p:cSld>
  <p:clrMapOvr>
    <a:masterClrMapping/>
  </p:clrMapOvr>
  <p:transition spd="med" advClick="0" advTm="20000">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DF6EC"/>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3DB8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80" y="502920"/>
            <a:ext cx="2066543" cy="384048"/>
          </a:xfrm>
          <a:prstGeom prst="roundRect">
            <a:avLst>
              <a:gd name="adj" fmla="val 50000"/>
            </a:avLst>
          </a:prstGeom>
          <a:solidFill>
            <a:srgbClr val="3DB8AD"/>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200" b="1">
                <a:solidFill>
                  <a:srgbClr val="FFFFFF"/>
                </a:solidFill>
                <a:latin typeface="Nunito"/>
              </a:rPr>
              <a:t>CAREGIVER PORTAL</a:t>
            </a:r>
          </a:p>
        </p:txBody>
      </p:sp>
      <p:sp>
        <p:nvSpPr>
          <p:cNvPr id="4" name="Rounded Rectangle 3"/>
          <p:cNvSpPr/>
          <p:nvPr/>
        </p:nvSpPr>
        <p:spPr>
          <a:xfrm>
            <a:off x="10881360" y="502920"/>
            <a:ext cx="960120" cy="384048"/>
          </a:xfrm>
          <a:prstGeom prst="roundRect">
            <a:avLst>
              <a:gd name="adj" fmla="val 50000"/>
            </a:avLst>
          </a:prstGeom>
          <a:solidFill>
            <a:srgbClr val="1C1A2E"/>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109728" rIns="109728" tIns="0" bIns="0"/>
          <a:lstStyle/>
          <a:p>
            <a:pPr algn="ctr"/>
            <a:r>
              <a:rPr sz="1200" b="1">
                <a:solidFill>
                  <a:srgbClr val="FFFFFF"/>
                </a:solidFill>
                <a:latin typeface="Nunito"/>
              </a:rPr>
              <a:t>20 sec</a:t>
            </a:r>
          </a:p>
        </p:txBody>
      </p:sp>
      <p:sp>
        <p:nvSpPr>
          <p:cNvPr id="5" name="TextBox 4"/>
          <p:cNvSpPr txBox="1"/>
          <p:nvPr/>
        </p:nvSpPr>
        <p:spPr>
          <a:xfrm>
            <a:off x="640080" y="1051560"/>
            <a:ext cx="6035040" cy="1554480"/>
          </a:xfrm>
          <a:prstGeom prst="rect">
            <a:avLst/>
          </a:prstGeom>
          <a:noFill/>
        </p:spPr>
        <p:txBody>
          <a:bodyPr wrap="square" anchor="t" lIns="0" rIns="0" tIns="0" bIns="0">
            <a:spAutoFit/>
          </a:bodyPr>
          <a:lstStyle/>
          <a:p>
            <a:pPr algn="l">
              <a:lnSpc>
                <a:spcPct val="102000"/>
              </a:lnSpc>
            </a:pPr>
            <a:r>
              <a:rPr sz="3400" b="1">
                <a:solidFill>
                  <a:srgbClr val="1C1A2E"/>
                </a:solidFill>
                <a:latin typeface="Nunito"/>
              </a:rPr>
              <a:t>Full control, one design system</a:t>
            </a:r>
          </a:p>
        </p:txBody>
      </p:sp>
      <p:sp>
        <p:nvSpPr>
          <p:cNvPr id="6" name="TextBox 5"/>
          <p:cNvSpPr txBox="1"/>
          <p:nvPr/>
        </p:nvSpPr>
        <p:spPr>
          <a:xfrm>
            <a:off x="658368" y="2487168"/>
            <a:ext cx="5852160" cy="457200"/>
          </a:xfrm>
          <a:prstGeom prst="rect">
            <a:avLst/>
          </a:prstGeom>
          <a:noFill/>
        </p:spPr>
        <p:txBody>
          <a:bodyPr wrap="square" anchor="t" lIns="0" rIns="0" tIns="0" bIns="0">
            <a:spAutoFit/>
          </a:bodyPr>
          <a:lstStyle/>
          <a:p>
            <a:pPr algn="l">
              <a:lnSpc>
                <a:spcPct val="100000"/>
              </a:lnSpc>
            </a:pPr>
            <a:r>
              <a:rPr sz="1600" b="1">
                <a:solidFill>
                  <a:srgbClr val="3DB8AD"/>
                </a:solidFill>
                <a:latin typeface="DM Sans"/>
              </a:rPr>
              <a:t>Manage, Add &amp; Report</a:t>
            </a:r>
          </a:p>
        </p:txBody>
      </p:sp>
      <p:sp>
        <p:nvSpPr>
          <p:cNvPr id="7" name="Oval 6"/>
          <p:cNvSpPr/>
          <p:nvPr/>
        </p:nvSpPr>
        <p:spPr>
          <a:xfrm>
            <a:off x="685800" y="3209544"/>
            <a:ext cx="219456" cy="219456"/>
          </a:xfrm>
          <a:prstGeom prst="ellipse">
            <a:avLst/>
          </a:prstGeom>
          <a:solidFill>
            <a:srgbClr val="E862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69848" y="3118104"/>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Manage every task</a:t>
            </a:r>
          </a:p>
          <a:p>
            <a:pPr>
              <a:lnSpc>
                <a:spcPct val="100000"/>
              </a:lnSpc>
              <a:spcBef>
                <a:spcPts val="100"/>
              </a:spcBef>
            </a:pPr>
            <a:r>
              <a:rPr sz="1200" b="0">
                <a:solidFill>
                  <a:srgbClr val="7A6F6A"/>
                </a:solidFill>
                <a:latin typeface="DM Sans"/>
              </a:rPr>
              <a:t>Add, edit, reorder or delete for each person.</a:t>
            </a:r>
          </a:p>
        </p:txBody>
      </p:sp>
      <p:sp>
        <p:nvSpPr>
          <p:cNvPr id="9" name="Oval 8"/>
          <p:cNvSpPr/>
          <p:nvPr/>
        </p:nvSpPr>
        <p:spPr>
          <a:xfrm>
            <a:off x="685800" y="4050791"/>
            <a:ext cx="219456" cy="219456"/>
          </a:xfrm>
          <a:prstGeom prst="ellipse">
            <a:avLst/>
          </a:prstGeom>
          <a:solidFill>
            <a:srgbClr val="3DB8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69848" y="3959352"/>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Add a person in seconds</a:t>
            </a:r>
          </a:p>
          <a:p>
            <a:pPr>
              <a:lnSpc>
                <a:spcPct val="100000"/>
              </a:lnSpc>
              <a:spcBef>
                <a:spcPts val="100"/>
              </a:spcBef>
            </a:pPr>
            <a:r>
              <a:rPr sz="1200" b="0">
                <a:solidFill>
                  <a:srgbClr val="7A6F6A"/>
                </a:solidFill>
                <a:latin typeface="DM Sans"/>
              </a:rPr>
              <a:t>Link someone new with one simple form.</a:t>
            </a:r>
          </a:p>
        </p:txBody>
      </p:sp>
      <p:sp>
        <p:nvSpPr>
          <p:cNvPr id="11" name="Oval 10"/>
          <p:cNvSpPr/>
          <p:nvPr/>
        </p:nvSpPr>
        <p:spPr>
          <a:xfrm>
            <a:off x="685800" y="4892040"/>
            <a:ext cx="219456" cy="219456"/>
          </a:xfrm>
          <a:prstGeom prst="ellipse">
            <a:avLst/>
          </a:prstGeom>
          <a:solidFill>
            <a:srgbClr val="F07B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69848" y="4800600"/>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Reports built in</a:t>
            </a:r>
          </a:p>
          <a:p>
            <a:pPr>
              <a:lnSpc>
                <a:spcPct val="100000"/>
              </a:lnSpc>
              <a:spcBef>
                <a:spcPts val="100"/>
              </a:spcBef>
            </a:pPr>
            <a:r>
              <a:rPr sz="1200" b="0">
                <a:solidFill>
                  <a:srgbClr val="7A6F6A"/>
                </a:solidFill>
                <a:latin typeface="DM Sans"/>
              </a:rPr>
              <a:t>Share progress with families or support staff.</a:t>
            </a:r>
          </a:p>
        </p:txBody>
      </p:sp>
      <p:sp>
        <p:nvSpPr>
          <p:cNvPr id="13" name="Oval 12"/>
          <p:cNvSpPr/>
          <p:nvPr/>
        </p:nvSpPr>
        <p:spPr>
          <a:xfrm>
            <a:off x="685800" y="5733288"/>
            <a:ext cx="219456" cy="219456"/>
          </a:xfrm>
          <a:prstGeom prst="ellipse">
            <a:avLst/>
          </a:prstGeom>
          <a:solidFill>
            <a:srgbClr val="9B6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69848" y="5641848"/>
            <a:ext cx="5376672" cy="868680"/>
          </a:xfrm>
          <a:prstGeom prst="rect">
            <a:avLst/>
          </a:prstGeom>
          <a:noFill/>
        </p:spPr>
        <p:txBody>
          <a:bodyPr wrap="square" lIns="0" rIns="0" tIns="0" bIns="0">
            <a:spAutoFit/>
          </a:bodyPr>
          <a:lstStyle/>
          <a:p>
            <a:pPr>
              <a:lnSpc>
                <a:spcPct val="100000"/>
              </a:lnSpc>
            </a:pPr>
            <a:r>
              <a:rPr sz="1600" b="1">
                <a:solidFill>
                  <a:srgbClr val="1C1A2E"/>
                </a:solidFill>
                <a:latin typeface="Nunito"/>
              </a:rPr>
              <a:t>One consistent system</a:t>
            </a:r>
          </a:p>
          <a:p>
            <a:pPr>
              <a:lnSpc>
                <a:spcPct val="100000"/>
              </a:lnSpc>
              <a:spcBef>
                <a:spcPts val="100"/>
              </a:spcBef>
            </a:pPr>
            <a:r>
              <a:rPr sz="1200" b="0">
                <a:solidFill>
                  <a:srgbClr val="7A6F6A"/>
                </a:solidFill>
                <a:latin typeface="DM Sans"/>
              </a:rPr>
              <a:t>Both portals share components, colour and style.</a:t>
            </a:r>
          </a:p>
        </p:txBody>
      </p:sp>
      <p:sp>
        <p:nvSpPr>
          <p:cNvPr id="15" name="TextBox 14"/>
          <p:cNvSpPr txBox="1"/>
          <p:nvPr/>
        </p:nvSpPr>
        <p:spPr>
          <a:xfrm>
            <a:off x="640080" y="6419088"/>
            <a:ext cx="5486400" cy="320040"/>
          </a:xfrm>
          <a:prstGeom prst="rect">
            <a:avLst/>
          </a:prstGeom>
          <a:noFill/>
        </p:spPr>
        <p:txBody>
          <a:bodyPr wrap="square" anchor="t" lIns="0" rIns="0" tIns="0" bIns="0">
            <a:spAutoFit/>
          </a:bodyPr>
          <a:lstStyle/>
          <a:p>
            <a:pPr algn="l">
              <a:lnSpc>
                <a:spcPct val="100000"/>
              </a:lnSpc>
            </a:pPr>
            <a:r>
              <a:rPr sz="1100" b="1">
                <a:solidFill>
                  <a:srgbClr val="7A6F6A"/>
                </a:solidFill>
                <a:latin typeface="DM Sans"/>
              </a:rPr>
              <a:t>CanPlan 2.0  ·  UI/UX Design</a:t>
            </a:r>
          </a:p>
        </p:txBody>
      </p:sp>
      <p:pic>
        <p:nvPicPr>
          <p:cNvPr id="16" name="Picture 15" descr="12-cg-manage.png"/>
          <p:cNvPicPr>
            <a:picLocks noChangeAspect="1"/>
          </p:cNvPicPr>
          <p:nvPr/>
        </p:nvPicPr>
        <p:blipFill>
          <a:blip r:embed="rId2"/>
          <a:stretch>
            <a:fillRect/>
          </a:stretch>
        </p:blipFill>
        <p:spPr>
          <a:xfrm>
            <a:off x="6446520" y="1244568"/>
            <a:ext cx="2619756" cy="4460302"/>
          </a:xfrm>
          <a:prstGeom prst="roundRect">
            <a:avLst>
              <a:gd name="adj" fmla="val 6500"/>
            </a:avLst>
          </a:prstGeom>
          <a:effectLst>
            <a:outerShdw blurRad="90000" dist="38000" dir="5400000" rotWithShape="0">
              <a:srgbClr val="1C1A2E">
                <a:alpha val="34000"/>
              </a:srgbClr>
            </a:outerShdw>
          </a:effectLst>
        </p:spPr>
      </p:pic>
      <p:pic>
        <p:nvPicPr>
          <p:cNvPr id="17" name="Picture 16" descr="13-cg-add.png"/>
          <p:cNvPicPr>
            <a:picLocks noChangeAspect="1"/>
          </p:cNvPicPr>
          <p:nvPr/>
        </p:nvPicPr>
        <p:blipFill>
          <a:blip r:embed="rId3"/>
          <a:stretch>
            <a:fillRect/>
          </a:stretch>
        </p:blipFill>
        <p:spPr>
          <a:xfrm>
            <a:off x="9358884" y="1244568"/>
            <a:ext cx="2619756" cy="4460302"/>
          </a:xfrm>
          <a:prstGeom prst="roundRect">
            <a:avLst>
              <a:gd name="adj" fmla="val 6500"/>
            </a:avLst>
          </a:prstGeom>
          <a:effectLst>
            <a:outerShdw blurRad="90000" dist="38000" dir="5400000" rotWithShape="0">
              <a:srgbClr val="1C1A2E">
                <a:alpha val="34000"/>
              </a:srgbClr>
            </a:outerShdw>
          </a:effectLst>
        </p:spPr>
      </p:pic>
    </p:spTree>
  </p:cSld>
  <p:clrMapOvr>
    <a:masterClrMapping/>
  </p:clrMapOvr>
  <p:transition spd="med" advClick="0" advTm="20000">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